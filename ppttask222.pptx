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6" r:id="rId8"/>
    <p:sldId id="267" r:id="rId9"/>
    <p:sldId id="268" r:id="rId10"/>
    <p:sldId id="261" r:id="rId11"/>
    <p:sldId id="26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9E11B1-8472-48B1-9C0F-2B7465BA6EFF}" v="11" dt="2026-03-24T10:08:59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60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8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18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00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954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13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50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248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627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94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4100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14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9736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064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348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28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2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7200" b="1" dirty="0">
                <a:latin typeface="Juice ITC" panose="04040403040A02020202" pitchFamily="82" charset="0"/>
              </a:rPr>
              <a:t>Customer Churn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993571"/>
            <a:ext cx="6347714" cy="30477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5400" dirty="0">
                <a:latin typeface="Bell MT" panose="02020503060305020303" pitchFamily="18" charset="0"/>
              </a:rPr>
              <a:t>Understanding why customers leave and how to improve retention</a:t>
            </a:r>
            <a:endParaRPr lang="en-IN" sz="54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7200" b="1" dirty="0">
                <a:latin typeface="Juice ITC" panose="04040403040A02020202" pitchFamily="82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5000" dirty="0">
                <a:latin typeface="Bell MT" panose="02020503060305020303" pitchFamily="18" charset="0"/>
              </a:rPr>
              <a:t>Identify churn patterns, retention drivers, and suggest improvements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7200" b="1" dirty="0">
                <a:latin typeface="Juice ITC" panose="04040403040A02020202" pitchFamily="82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5000" dirty="0">
                <a:latin typeface="Bell MT" panose="02020503060305020303" pitchFamily="18" charset="0"/>
              </a:rPr>
              <a:t>Customer data including tenure, charges, contract, payment method, churn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7200" b="1" dirty="0">
                <a:latin typeface="Juice ITC" panose="04040403040A02020202" pitchFamily="82" charset="0"/>
              </a:rP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5000" dirty="0">
                <a:latin typeface="Bell MT" panose="02020503060305020303" pitchFamily="18" charset="0"/>
              </a:rPr>
              <a:t>Churn Rate</a:t>
            </a:r>
            <a:r>
              <a:rPr lang="en-IN" sz="5000" dirty="0">
                <a:latin typeface="Bell MT" panose="02020503060305020303" pitchFamily="18" charset="0"/>
              </a:rPr>
              <a:t> : 100</a:t>
            </a:r>
            <a:endParaRPr sz="5000" dirty="0">
              <a:latin typeface="Bell MT" panose="020205030603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5000" dirty="0">
                <a:latin typeface="Bell MT" panose="02020503060305020303" pitchFamily="18" charset="0"/>
              </a:rPr>
              <a:t>Retention Rate</a:t>
            </a:r>
            <a:r>
              <a:rPr lang="en-IN" sz="5000" dirty="0">
                <a:latin typeface="Bell MT" panose="02020503060305020303" pitchFamily="18" charset="0"/>
              </a:rPr>
              <a:t> : 26</a:t>
            </a:r>
            <a:endParaRPr sz="5000" dirty="0">
              <a:latin typeface="Bell MT" panose="020205030603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5000" dirty="0">
                <a:latin typeface="Bell MT" panose="02020503060305020303" pitchFamily="18" charset="0"/>
              </a:rPr>
              <a:t>Average Tenure</a:t>
            </a:r>
            <a:r>
              <a:rPr lang="en-IN" sz="5000" dirty="0">
                <a:latin typeface="Bell MT" panose="02020503060305020303" pitchFamily="18" charset="0"/>
              </a:rPr>
              <a:t> : 26%</a:t>
            </a:r>
            <a:endParaRPr sz="5000" dirty="0">
              <a:latin typeface="Bell MT" panose="020205030603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5000" dirty="0">
                <a:latin typeface="Bell MT" panose="02020503060305020303" pitchFamily="18" charset="0"/>
              </a:rPr>
              <a:t>Total Customers</a:t>
            </a:r>
            <a:r>
              <a:rPr lang="en-IN" sz="5000" dirty="0">
                <a:latin typeface="Bell MT" panose="02020503060305020303" pitchFamily="18" charset="0"/>
              </a:rPr>
              <a:t> : 74%</a:t>
            </a:r>
            <a:endParaRPr sz="500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C336C-C647-F939-1648-2169C2F8D20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Autofit/>
          </a:bodyPr>
          <a:lstStyle/>
          <a:p>
            <a:r>
              <a:rPr lang="en-IN" sz="7200" b="1" dirty="0">
                <a:latin typeface="Juice ITC" panose="04040403040A02020202" pitchFamily="82" charset="0"/>
              </a:rPr>
              <a:t>   Dash 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F988FD-6ED1-5CEB-F093-58D1BBFD0DE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/>
          <a:stretch/>
        </p:blipFill>
        <p:spPr>
          <a:xfrm>
            <a:off x="533400" y="2016124"/>
            <a:ext cx="6870258" cy="400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255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7200" b="1" dirty="0">
                <a:latin typeface="Juice ITC" panose="04040403040A02020202" pitchFamily="82" charset="0"/>
              </a:rP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812247"/>
            <a:ext cx="6347714" cy="3880773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5000" dirty="0">
                <a:latin typeface="Bell MT" panose="02020503060305020303" pitchFamily="18" charset="0"/>
              </a:rPr>
              <a:t>Monthly contracts have higher churn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5000" dirty="0">
                <a:latin typeface="Bell MT" panose="02020503060305020303" pitchFamily="18" charset="0"/>
              </a:rPr>
              <a:t>New customers churn more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5000" dirty="0">
                <a:latin typeface="Bell MT" panose="02020503060305020303" pitchFamily="18" charset="0"/>
              </a:rPr>
              <a:t>Long-term users stay longer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176AE-B75E-60E6-5584-86344AA20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b="1" dirty="0">
                <a:latin typeface="Juice ITC" panose="04040403040A02020202" pitchFamily="82" charset="0"/>
              </a:rPr>
              <a:t>Insights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84174-DD39-A2F2-E621-AC035814E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815876"/>
            <a:ext cx="6347714" cy="388077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5800" b="1" dirty="0">
                <a:latin typeface="Bell MT" panose="02020503060305020303" pitchFamily="18" charset="0"/>
              </a:rPr>
              <a:t>CUSTOMER CHURN ANALYSIS – RECOMMENDATIONS</a:t>
            </a:r>
          </a:p>
          <a:p>
            <a:pPr marL="0" indent="0">
              <a:buNone/>
            </a:pPr>
            <a:r>
              <a:rPr lang="en-US" sz="5800" b="1" dirty="0">
                <a:latin typeface="Bell MT" panose="02020503060305020303" pitchFamily="18" charset="0"/>
              </a:rPr>
              <a:t>1. </a:t>
            </a:r>
            <a:r>
              <a:rPr lang="en-US" sz="5800" dirty="0">
                <a:latin typeface="Bell MT" panose="02020503060305020303" pitchFamily="18" charset="0"/>
              </a:rPr>
              <a:t>Improve Customer Onboarding Experience</a:t>
            </a:r>
          </a:p>
          <a:p>
            <a:pPr marL="0" indent="0">
              <a:buNone/>
            </a:pPr>
            <a:r>
              <a:rPr lang="en-US" sz="5800" dirty="0">
                <a:latin typeface="Bell MT" panose="02020503060305020303" pitchFamily="18" charset="0"/>
              </a:rPr>
              <a:t>Enhance the first 3–6 months user journey with guided tutorials, walkthroughs, and support.</a:t>
            </a:r>
            <a:br>
              <a:rPr lang="en-US" sz="5800" dirty="0">
                <a:latin typeface="Bell MT" panose="02020503060305020303" pitchFamily="18" charset="0"/>
              </a:rPr>
            </a:br>
            <a:r>
              <a:rPr lang="en-US" sz="5800" dirty="0">
                <a:latin typeface="Bell MT" panose="02020503060305020303" pitchFamily="18" charset="0"/>
              </a:rPr>
              <a:t>This will help reduce early-stage churn and improve user engagement.</a:t>
            </a:r>
            <a:br>
              <a:rPr lang="en-US" sz="5800" dirty="0">
                <a:latin typeface="Bell MT" panose="02020503060305020303" pitchFamily="18" charset="0"/>
              </a:rPr>
            </a:br>
            <a:endParaRPr lang="en-US" sz="58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r>
              <a:rPr lang="en-US" sz="5800" b="1" dirty="0">
                <a:latin typeface="Bell MT" panose="02020503060305020303" pitchFamily="18" charset="0"/>
              </a:rPr>
              <a:t>2. </a:t>
            </a:r>
            <a:r>
              <a:rPr lang="en-US" sz="5800" dirty="0">
                <a:latin typeface="Bell MT" panose="02020503060305020303" pitchFamily="18" charset="0"/>
              </a:rPr>
              <a:t>Promote Long-Term Subscription Plans</a:t>
            </a:r>
          </a:p>
          <a:p>
            <a:pPr marL="0" indent="0">
              <a:buNone/>
            </a:pPr>
            <a:r>
              <a:rPr lang="en-US" sz="5800" dirty="0">
                <a:latin typeface="Bell MT" panose="02020503060305020303" pitchFamily="18" charset="0"/>
              </a:rPr>
              <a:t>Encourage customers to switch from monthly to yearly plans by offering discounts or benefits.</a:t>
            </a:r>
            <a:br>
              <a:rPr lang="en-US" sz="5800" dirty="0">
                <a:latin typeface="Bell MT" panose="02020503060305020303" pitchFamily="18" charset="0"/>
              </a:rPr>
            </a:br>
            <a:r>
              <a:rPr lang="en-US" sz="5800" dirty="0">
                <a:latin typeface="Bell MT" panose="02020503060305020303" pitchFamily="18" charset="0"/>
              </a:rPr>
              <a:t> Long-term plans increase commitment and reduce churn.</a:t>
            </a:r>
          </a:p>
          <a:p>
            <a:endParaRPr lang="en-US" sz="58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r>
              <a:rPr lang="en-US" sz="5800" b="1" dirty="0">
                <a:latin typeface="Bell MT" panose="02020503060305020303" pitchFamily="18" charset="0"/>
              </a:rPr>
              <a:t>3</a:t>
            </a:r>
            <a:r>
              <a:rPr lang="en-US" sz="5800" dirty="0">
                <a:latin typeface="Bell MT" panose="02020503060305020303" pitchFamily="18" charset="0"/>
              </a:rPr>
              <a:t>. Implement Targeted Retention Campaigns</a:t>
            </a:r>
          </a:p>
          <a:p>
            <a:pPr marL="0" indent="0">
              <a:buNone/>
            </a:pPr>
            <a:r>
              <a:rPr lang="en-US" sz="5800" dirty="0">
                <a:latin typeface="Bell MT" panose="02020503060305020303" pitchFamily="18" charset="0"/>
              </a:rPr>
              <a:t>Identify high-risk customers (low tenure, monthly users) and offer:</a:t>
            </a:r>
          </a:p>
          <a:p>
            <a:pPr marL="0" indent="0">
              <a:buNone/>
            </a:pPr>
            <a:r>
              <a:rPr lang="en-US" sz="5800" dirty="0">
                <a:latin typeface="Bell MT" panose="02020503060305020303" pitchFamily="18" charset="0"/>
              </a:rPr>
              <a:t>Personalized discounts </a:t>
            </a:r>
          </a:p>
          <a:p>
            <a:pPr marL="0" indent="0">
              <a:buNone/>
            </a:pPr>
            <a:r>
              <a:rPr lang="en-US" sz="5800" dirty="0">
                <a:latin typeface="Bell MT" panose="02020503060305020303" pitchFamily="18" charset="0"/>
              </a:rPr>
              <a:t>Special offers </a:t>
            </a:r>
          </a:p>
          <a:p>
            <a:pPr marL="0" indent="0">
              <a:buNone/>
            </a:pPr>
            <a:r>
              <a:rPr lang="en-US" sz="5800" dirty="0">
                <a:latin typeface="Bell MT" panose="02020503060305020303" pitchFamily="18" charset="0"/>
              </a:rPr>
              <a:t>Reminder notifications</a:t>
            </a:r>
            <a:br>
              <a:rPr lang="en-US" sz="5800" dirty="0">
                <a:latin typeface="Bell MT" panose="02020503060305020303" pitchFamily="18" charset="0"/>
              </a:rPr>
            </a:br>
            <a:r>
              <a:rPr lang="en-US" sz="5800" dirty="0">
                <a:latin typeface="Bell MT" panose="02020503060305020303" pitchFamily="18" charset="0"/>
              </a:rPr>
              <a:t>This helps retain customers before they churn.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4688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DF00B-F3C6-98EA-3B6C-1011388AD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88373"/>
            <a:ext cx="8229600" cy="588125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Bell MT" panose="02020503060305020303" pitchFamily="18" charset="0"/>
              </a:rPr>
              <a:t>4. </a:t>
            </a:r>
            <a:r>
              <a:rPr lang="en-US" dirty="0">
                <a:latin typeface="Bell MT" panose="02020503060305020303" pitchFamily="18" charset="0"/>
              </a:rPr>
              <a:t>Enhance Customer Engagement Strategies</a:t>
            </a: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Increase engagement through:</a:t>
            </a: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Regular updates </a:t>
            </a: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Notifications </a:t>
            </a: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Loyalty programs</a:t>
            </a:r>
            <a:br>
              <a:rPr lang="en-US" dirty="0">
                <a:latin typeface="Bell MT" panose="02020503060305020303" pitchFamily="18" charset="0"/>
              </a:rPr>
            </a:br>
            <a:r>
              <a:rPr lang="en-US" dirty="0">
                <a:latin typeface="Bell MT" panose="02020503060305020303" pitchFamily="18" charset="0"/>
              </a:rPr>
              <a:t>Engaged users are less likely to leave. </a:t>
            </a:r>
          </a:p>
          <a:p>
            <a:pPr marL="0" indent="0">
              <a:buNone/>
            </a:pPr>
            <a:br>
              <a:rPr lang="en-US" dirty="0">
                <a:latin typeface="Bell MT" panose="02020503060305020303" pitchFamily="18" charset="0"/>
              </a:rPr>
            </a:br>
            <a:endParaRPr lang="en-US" dirty="0">
              <a:latin typeface="Bell MT" panose="02020503060305020303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Bell MT" panose="02020503060305020303" pitchFamily="18" charset="0"/>
              </a:rPr>
              <a:t>5. </a:t>
            </a:r>
            <a:r>
              <a:rPr lang="en-US" dirty="0">
                <a:latin typeface="Bell MT" panose="02020503060305020303" pitchFamily="18" charset="0"/>
              </a:rPr>
              <a:t>Improve Payment Experience</a:t>
            </a: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Optimize payment methods by:</a:t>
            </a: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Ensuring smooth transactions </a:t>
            </a: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Offering multiple convenient payment options</a:t>
            </a:r>
            <a:br>
              <a:rPr lang="en-US" dirty="0">
                <a:latin typeface="Bell MT" panose="02020503060305020303" pitchFamily="18" charset="0"/>
              </a:rPr>
            </a:br>
            <a:r>
              <a:rPr lang="en-US" dirty="0">
                <a:latin typeface="Bell MT" panose="02020503060305020303" pitchFamily="18" charset="0"/>
              </a:rPr>
              <a:t>A better payment experience reduces friction and churn. </a:t>
            </a:r>
          </a:p>
          <a:p>
            <a:pPr marL="0" indent="0">
              <a:buNone/>
            </a:pPr>
            <a:br>
              <a:rPr lang="en-US" dirty="0">
                <a:latin typeface="Bell MT" panose="02020503060305020303" pitchFamily="18" charset="0"/>
              </a:rPr>
            </a:br>
            <a:endParaRPr lang="en-US" dirty="0">
              <a:latin typeface="Bell MT" panose="02020503060305020303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Bell MT" panose="02020503060305020303" pitchFamily="18" charset="0"/>
              </a:rPr>
              <a:t>6</a:t>
            </a:r>
            <a:r>
              <a:rPr lang="en-US" dirty="0">
                <a:latin typeface="Bell MT" panose="02020503060305020303" pitchFamily="18" charset="0"/>
              </a:rPr>
              <a:t>. Focus on Value Delivery, Not Just Pricing</a:t>
            </a: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Instead of only adjusting pricing, improve:</a:t>
            </a: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Service quality </a:t>
            </a: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Features </a:t>
            </a: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Customer support</a:t>
            </a:r>
            <a:br>
              <a:rPr lang="en-US" dirty="0">
                <a:latin typeface="Bell MT" panose="02020503060305020303" pitchFamily="18" charset="0"/>
              </a:rPr>
            </a:br>
            <a:r>
              <a:rPr lang="en-US" dirty="0">
                <a:latin typeface="Bell MT" panose="02020503060305020303" pitchFamily="18" charset="0"/>
              </a:rPr>
              <a:t>Customers stay when they perceive real value.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904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30796-DAE0-3F74-7F15-4421A4D60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34342"/>
            <a:ext cx="8229600" cy="52741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latin typeface="Bell MT" panose="02020503060305020303" pitchFamily="18" charset="0"/>
              </a:rPr>
              <a:t>7. </a:t>
            </a:r>
            <a:r>
              <a:rPr lang="en-US" sz="1600" dirty="0">
                <a:latin typeface="Bell MT" panose="02020503060305020303" pitchFamily="18" charset="0"/>
              </a:rPr>
              <a:t>Introduce Loyalty &amp; Reward Programs</a:t>
            </a:r>
          </a:p>
          <a:p>
            <a:pPr marL="0" indent="0">
              <a:buNone/>
            </a:pPr>
            <a:r>
              <a:rPr lang="en-US" sz="1600" dirty="0">
                <a:latin typeface="Bell MT" panose="02020503060305020303" pitchFamily="18" charset="0"/>
              </a:rPr>
              <a:t>Reward long-term customers with:</a:t>
            </a:r>
          </a:p>
          <a:p>
            <a:pPr marL="0" indent="0">
              <a:buNone/>
            </a:pPr>
            <a:r>
              <a:rPr lang="en-US" sz="1600" dirty="0">
                <a:latin typeface="Bell MT" panose="02020503060305020303" pitchFamily="18" charset="0"/>
              </a:rPr>
              <a:t>Discounts </a:t>
            </a:r>
          </a:p>
          <a:p>
            <a:pPr marL="0" indent="0">
              <a:buNone/>
            </a:pPr>
            <a:r>
              <a:rPr lang="en-US" sz="1600" dirty="0">
                <a:latin typeface="Bell MT" panose="02020503060305020303" pitchFamily="18" charset="0"/>
              </a:rPr>
              <a:t>Exclusive features </a:t>
            </a:r>
          </a:p>
          <a:p>
            <a:pPr marL="0" indent="0">
              <a:buNone/>
            </a:pPr>
            <a:r>
              <a:rPr lang="en-US" sz="1600" dirty="0">
                <a:latin typeface="Bell MT" panose="02020503060305020303" pitchFamily="18" charset="0"/>
              </a:rPr>
              <a:t>Priority support</a:t>
            </a:r>
            <a:br>
              <a:rPr lang="en-US" sz="1600" dirty="0">
                <a:latin typeface="Bell MT" panose="02020503060305020303" pitchFamily="18" charset="0"/>
              </a:rPr>
            </a:br>
            <a:r>
              <a:rPr lang="en-US" sz="1600" dirty="0">
                <a:latin typeface="Bell MT" panose="02020503060305020303" pitchFamily="18" charset="0"/>
              </a:rPr>
              <a:t>This strengthens customer relationships and retention. </a:t>
            </a:r>
          </a:p>
          <a:p>
            <a:pPr marL="0" indent="0">
              <a:buNone/>
            </a:pPr>
            <a:br>
              <a:rPr lang="en-US" sz="1600" dirty="0">
                <a:latin typeface="Bell MT" panose="02020503060305020303" pitchFamily="18" charset="0"/>
              </a:rPr>
            </a:br>
            <a:endParaRPr lang="en-US" sz="16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Bell MT" panose="02020503060305020303" pitchFamily="18" charset="0"/>
              </a:rPr>
              <a:t>8. Monitor Churn Regularly</a:t>
            </a:r>
          </a:p>
          <a:p>
            <a:pPr marL="0" indent="0">
              <a:buNone/>
            </a:pPr>
            <a:r>
              <a:rPr lang="en-US" sz="1600" dirty="0">
                <a:latin typeface="Bell MT" panose="02020503060305020303" pitchFamily="18" charset="0"/>
              </a:rPr>
              <a:t>Track churn trends continuously using dashboards and analytics.</a:t>
            </a:r>
            <a:br>
              <a:rPr lang="en-US" sz="1600" dirty="0">
                <a:latin typeface="Bell MT" panose="02020503060305020303" pitchFamily="18" charset="0"/>
              </a:rPr>
            </a:br>
            <a:r>
              <a:rPr lang="en-US" sz="1600" dirty="0">
                <a:latin typeface="Bell MT" panose="02020503060305020303" pitchFamily="18" charset="0"/>
              </a:rPr>
              <a:t>This allows early detection of issues and faster decision-making.</a:t>
            </a:r>
          </a:p>
          <a:p>
            <a:pPr marL="0" indent="0">
              <a:buNone/>
            </a:pPr>
            <a:br>
              <a:rPr lang="en-US" sz="1600" dirty="0">
                <a:latin typeface="Bell MT" panose="02020503060305020303" pitchFamily="18" charset="0"/>
              </a:rPr>
            </a:br>
            <a:endParaRPr lang="en-US" sz="16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Bell MT" panose="02020503060305020303" pitchFamily="18" charset="0"/>
              </a:rPr>
              <a:t>FINAL RECOMMENDATION </a:t>
            </a:r>
          </a:p>
          <a:p>
            <a:pPr marL="0" indent="0">
              <a:buNone/>
            </a:pPr>
            <a:r>
              <a:rPr lang="en-US" sz="1600" dirty="0">
                <a:latin typeface="Bell MT" panose="02020503060305020303" pitchFamily="18" charset="0"/>
              </a:rPr>
              <a:t>“Businesses should focus on improving early customer experience, encouraging long-term subscriptions, and proactively engaging high-risk users to significantly reduce churn and improve retention.”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4162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7200" b="1" dirty="0">
                <a:latin typeface="Juice ITC" panose="04040403040A02020202" pitchFamily="82" charset="0"/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5000" dirty="0">
                <a:latin typeface="Bell MT" panose="02020503060305020303" pitchFamily="18" charset="0"/>
              </a:rPr>
              <a:t>Promote yearly plans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5000" dirty="0">
                <a:latin typeface="Bell MT" panose="02020503060305020303" pitchFamily="18" charset="0"/>
              </a:rPr>
              <a:t>Improve onboarding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5000" dirty="0">
                <a:latin typeface="Bell MT" panose="02020503060305020303" pitchFamily="18" charset="0"/>
              </a:rPr>
              <a:t>Offer loyalty rewards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7200" b="1" dirty="0">
                <a:latin typeface="Juice ITC" panose="04040403040A020202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5000" dirty="0">
                <a:latin typeface="Bell MT" panose="02020503060305020303" pitchFamily="18" charset="0"/>
              </a:rPr>
              <a:t>Reducing churn improves revenue and customer lifetime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</TotalTime>
  <Words>369</Words>
  <Application>Microsoft Office PowerPoint</Application>
  <PresentationFormat>On-screen Show (4:3)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Bell MT</vt:lpstr>
      <vt:lpstr>Juice ITC</vt:lpstr>
      <vt:lpstr>Trebuchet MS</vt:lpstr>
      <vt:lpstr>Wingdings 3</vt:lpstr>
      <vt:lpstr>Facet</vt:lpstr>
      <vt:lpstr>Customer Churn Analysis</vt:lpstr>
      <vt:lpstr>Problem Statement</vt:lpstr>
      <vt:lpstr>Dataset Overview</vt:lpstr>
      <vt:lpstr>Key Metrics</vt:lpstr>
      <vt:lpstr>   Dash board overview</vt:lpstr>
      <vt:lpstr>Insights</vt:lpstr>
      <vt:lpstr>Insights </vt:lpstr>
      <vt:lpstr>PowerPoint Presentation</vt:lpstr>
      <vt:lpstr>PowerPoint Presentation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Yasaswini</dc:creator>
  <cp:keywords/>
  <dc:description>generated using python-pptx</dc:description>
  <cp:lastModifiedBy>yasaswini.2670@gmail.com</cp:lastModifiedBy>
  <cp:revision>5</cp:revision>
  <dcterms:created xsi:type="dcterms:W3CDTF">2013-01-27T09:14:16Z</dcterms:created>
  <dcterms:modified xsi:type="dcterms:W3CDTF">2026-03-24T15:51:05Z</dcterms:modified>
  <cp:category/>
</cp:coreProperties>
</file>